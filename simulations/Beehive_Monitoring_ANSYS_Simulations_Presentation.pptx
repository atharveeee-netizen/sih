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Garamond"/>
      <p:regular r:id="rId13"/>
      <p:bold r:id="rId14"/>
      <p:italic r:id="rId15"/>
      <p:boldItalic r:id="rId16"/>
    </p:embeddedFon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font" Target="fonts/Garamond-regular.fntdata"/><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italic.fntdata"/><Relationship Id="rId14" Type="http://schemas.openxmlformats.org/officeDocument/2006/relationships/font" Target="fonts/Garamond-bold.fntdata"/><Relationship Id="rId17" Type="http://schemas.openxmlformats.org/officeDocument/2006/relationships/font" Target="fonts/Montserrat-regular.fntdata"/><Relationship Id="rId16" Type="http://schemas.openxmlformats.org/officeDocument/2006/relationships/font" Target="fonts/Garamond-boldItalic.fntdata"/><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61d598b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61d598b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61d598b8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61d598b8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61d598b8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61d598b8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61d598b8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61d598b8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61d598b8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61d598b8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61d598b8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f61d598b8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47800" y="1015275"/>
            <a:ext cx="5596200" cy="231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4000"/>
              <a:t>Simulations on Ansys </a:t>
            </a:r>
            <a:endParaRPr sz="4000"/>
          </a:p>
          <a:p>
            <a:pPr indent="0" lvl="0" marL="0" rtl="0" algn="l">
              <a:spcBef>
                <a:spcPts val="0"/>
              </a:spcBef>
              <a:spcAft>
                <a:spcPts val="0"/>
              </a:spcAft>
              <a:buSzPts val="990"/>
              <a:buNone/>
            </a:pPr>
            <a:r>
              <a:rPr lang="en-GB" sz="3640"/>
              <a:t>for Beehive Monitoring Device</a:t>
            </a:r>
            <a:endParaRPr sz="364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Simulation 1: </a:t>
            </a:r>
            <a:r>
              <a:rPr lang="en-GB" sz="2689"/>
              <a:t>868 MHz Antenna &amp; Wireless Link Simulation </a:t>
            </a:r>
            <a:endParaRPr sz="2244"/>
          </a:p>
        </p:txBody>
      </p:sp>
      <p:sp>
        <p:nvSpPr>
          <p:cNvPr id="140" name="Google Shape;140;p14"/>
          <p:cNvSpPr txBox="1"/>
          <p:nvPr>
            <p:ph idx="1" type="body"/>
          </p:nvPr>
        </p:nvSpPr>
        <p:spPr>
          <a:xfrm>
            <a:off x="635950" y="1567550"/>
            <a:ext cx="7700400" cy="2911200"/>
          </a:xfrm>
          <a:prstGeom prst="rect">
            <a:avLst/>
          </a:prstGeom>
        </p:spPr>
        <p:txBody>
          <a:bodyPr anchorCtr="0" anchor="t" bIns="91425" lIns="91425" spcFirstLastPara="1" rIns="91425" wrap="square" tIns="91425">
            <a:normAutofit fontScale="77500" lnSpcReduction="20000"/>
          </a:bodyPr>
          <a:lstStyle/>
          <a:p>
            <a:pPr indent="0" lvl="0" marL="0" rtl="0" algn="just">
              <a:spcBef>
                <a:spcPts val="0"/>
              </a:spcBef>
              <a:spcAft>
                <a:spcPts val="0"/>
              </a:spcAft>
              <a:buNone/>
            </a:pPr>
            <a:r>
              <a:rPr lang="en-GB" sz="1900"/>
              <a:t>We are testing</a:t>
            </a:r>
            <a:r>
              <a:rPr i="1" lang="en-GB" sz="1900"/>
              <a:t> Electromagnetics (EM) &amp; Far-Field Wave Propagation</a:t>
            </a:r>
            <a:r>
              <a:rPr lang="en-GB" sz="1900"/>
              <a:t>. We want to check that our 868 MHz wire antenna connected to the STM32WLE5 (Wio-E5) transfers RF power cleanly through its trace without internal reflections and broadcasts a 3D signal capable of spanning 4km. </a:t>
            </a:r>
            <a:endParaRPr sz="1900"/>
          </a:p>
          <a:p>
            <a:pPr indent="0" lvl="0" marL="0" rtl="0" algn="just">
              <a:spcBef>
                <a:spcPts val="1200"/>
              </a:spcBef>
              <a:spcAft>
                <a:spcPts val="0"/>
              </a:spcAft>
              <a:buNone/>
            </a:pPr>
            <a:r>
              <a:rPr lang="en-GB" sz="1900"/>
              <a:t>For this, we’ll require a Software Module:</a:t>
            </a:r>
            <a:r>
              <a:rPr lang="en-GB" sz="1900" u="sng"/>
              <a:t> </a:t>
            </a:r>
            <a:r>
              <a:rPr b="1" lang="en-GB" sz="1900" u="sng"/>
              <a:t>Ansys HFSS (High-Frequency Structure Simulator)</a:t>
            </a:r>
            <a:r>
              <a:rPr b="1" lang="en-GB" sz="1900"/>
              <a:t> </a:t>
            </a:r>
            <a:r>
              <a:rPr lang="en-GB" sz="1900"/>
              <a:t>inside Ansys Electronics Desktop (AEDT).  We want to </a:t>
            </a:r>
            <a:r>
              <a:rPr lang="en-GB" sz="1900"/>
              <a:t>evaluate the radiation efficiency and impedance </a:t>
            </a:r>
            <a:r>
              <a:rPr lang="en-GB" sz="1900"/>
              <a:t>matching of our 868/915 MHz 86mm quarter-wave wire antenna connected to the STM32WLE5 (Wio-E5) microcontroller before manufacturing. </a:t>
            </a:r>
            <a:endParaRPr sz="1900"/>
          </a:p>
          <a:p>
            <a:pPr indent="0" lvl="0" marL="0" rtl="0" algn="just">
              <a:spcBef>
                <a:spcPts val="1200"/>
              </a:spcBef>
              <a:spcAft>
                <a:spcPts val="1200"/>
              </a:spcAft>
              <a:buNone/>
            </a:pPr>
            <a:r>
              <a:rPr lang="en-GB" sz="1900"/>
              <a:t>This directly addresses the IEEE HART</a:t>
            </a:r>
            <a:r>
              <a:rPr b="1" lang="en-GB" sz="1900"/>
              <a:t> Coverage Range and Temperature Accuracy KPI</a:t>
            </a:r>
            <a:r>
              <a:rPr lang="en-GB" sz="1900"/>
              <a:t> by proving that our node can successfully transmit telemetry through a wooden hive structure across long distances(specifically, pass the 4km Line-Of-Sight). </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Garamond"/>
                <a:ea typeface="Garamond"/>
                <a:cs typeface="Garamond"/>
                <a:sym typeface="Garamond"/>
              </a:rPr>
              <a:t>STEPS of EXECUTION</a:t>
            </a:r>
            <a:endParaRPr>
              <a:latin typeface="Garamond"/>
              <a:ea typeface="Garamond"/>
              <a:cs typeface="Garamond"/>
              <a:sym typeface="Garamond"/>
            </a:endParaRPr>
          </a:p>
        </p:txBody>
      </p:sp>
      <p:sp>
        <p:nvSpPr>
          <p:cNvPr id="146" name="Google Shape;146;p15"/>
          <p:cNvSpPr txBox="1"/>
          <p:nvPr>
            <p:ph idx="1" type="body"/>
          </p:nvPr>
        </p:nvSpPr>
        <p:spPr>
          <a:xfrm>
            <a:off x="1297500" y="1207475"/>
            <a:ext cx="7631400" cy="40221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1600"/>
              <a:t>To execute this, we will </a:t>
            </a:r>
            <a:endParaRPr sz="1600"/>
          </a:p>
          <a:p>
            <a:pPr indent="-311150" lvl="0" marL="457200" rtl="0" algn="just">
              <a:spcBef>
                <a:spcPts val="1200"/>
              </a:spcBef>
              <a:spcAft>
                <a:spcPts val="0"/>
              </a:spcAft>
              <a:buSzPts val="1300"/>
              <a:buAutoNum type="arabicParenR"/>
            </a:pPr>
            <a:r>
              <a:rPr lang="en-GB"/>
              <a:t>Import our 2-layer PCB layout (.ODB++)</a:t>
            </a:r>
            <a:endParaRPr/>
          </a:p>
          <a:p>
            <a:pPr indent="-311150" lvl="0" marL="457200" rtl="0" algn="just">
              <a:spcBef>
                <a:spcPts val="0"/>
              </a:spcBef>
              <a:spcAft>
                <a:spcPts val="0"/>
              </a:spcAft>
              <a:buSzPts val="1300"/>
              <a:buAutoNum type="arabicParenR"/>
            </a:pPr>
            <a:r>
              <a:rPr lang="en-GB"/>
              <a:t>Construct the 86mm copper wire antenna geometry on the SMA pad and </a:t>
            </a:r>
            <a:endParaRPr/>
          </a:p>
          <a:p>
            <a:pPr indent="-311150" lvl="0" marL="457200" rtl="0" algn="just">
              <a:spcBef>
                <a:spcPts val="0"/>
              </a:spcBef>
              <a:spcAft>
                <a:spcPts val="0"/>
              </a:spcAft>
              <a:buSzPts val="1300"/>
              <a:buAutoNum type="arabicParenR"/>
            </a:pPr>
            <a:r>
              <a:rPr lang="en-GB"/>
              <a:t>Assign material properties for the FR4 substrate, copper traces, and surrounding wooden hive box. </a:t>
            </a:r>
            <a:endParaRPr/>
          </a:p>
          <a:p>
            <a:pPr indent="0" lvl="0" marL="0" rtl="0" algn="just">
              <a:spcBef>
                <a:spcPts val="1200"/>
              </a:spcBef>
              <a:spcAft>
                <a:spcPts val="1200"/>
              </a:spcAft>
              <a:buNone/>
            </a:pPr>
            <a:r>
              <a:rPr lang="en-GB"/>
              <a:t>We will then establish a 3D Air Box with a radiation boundary at λ/4 distance, assign a 50 Ω Lumped Port source at the RF output pin, and execute an interpolating frequency sweep from 700 MHz to 1 GHz. From this setup, we expect to generate an </a:t>
            </a:r>
            <a:r>
              <a:rPr b="1" lang="en-GB" u="sng"/>
              <a:t>S11 Return Loss plot displaying a sharp resonance dip below -10 dB at 868 MHz, alongside a 3D Far-Field Radiation Pattern showing an omnidirectional gain distribution (&gt; 2 dBi). </a:t>
            </a:r>
            <a:r>
              <a:rPr lang="en-GB"/>
              <a:t>The design significance of this outcome is that it proves RF energy actually radiates into space rather than reflecting back into the STM32 chip, </a:t>
            </a:r>
            <a:r>
              <a:rPr i="1" lang="en-GB"/>
              <a:t>preventing power loss and validating our long-range claim.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Simulation 2: Power Integrity &amp; Transient Voltage Droop</a:t>
            </a:r>
            <a:endParaRPr/>
          </a:p>
        </p:txBody>
      </p:sp>
      <p:sp>
        <p:nvSpPr>
          <p:cNvPr id="152" name="Google Shape;152;p16"/>
          <p:cNvSpPr txBox="1"/>
          <p:nvPr>
            <p:ph idx="1" type="body"/>
          </p:nvPr>
        </p:nvSpPr>
        <p:spPr>
          <a:xfrm>
            <a:off x="4786850" y="1359425"/>
            <a:ext cx="3970500" cy="345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This simulation relies on</a:t>
            </a:r>
            <a:r>
              <a:rPr b="1" lang="en-GB"/>
              <a:t> Ansys SIwave and Ansys Electronics Desktop (Nexxim Circuit) </a:t>
            </a:r>
            <a:r>
              <a:rPr lang="en-GB"/>
              <a:t>to conduct transient </a:t>
            </a:r>
            <a:r>
              <a:rPr b="1" lang="en-GB"/>
              <a:t>Power Distribution Network (PDN) and AC/DC impedance testing. </a:t>
            </a:r>
            <a:endParaRPr b="1"/>
          </a:p>
          <a:p>
            <a:pPr indent="0" lvl="0" marL="0" rtl="0" algn="l">
              <a:spcBef>
                <a:spcPts val="1200"/>
              </a:spcBef>
              <a:spcAft>
                <a:spcPts val="0"/>
              </a:spcAft>
              <a:buNone/>
            </a:pPr>
            <a:r>
              <a:rPr lang="en-GB"/>
              <a:t>Our goal is to verify that the 3.3V power rail remains stable during high-current radio transmission bursts, which directly addresses the</a:t>
            </a:r>
            <a:r>
              <a:rPr b="1" lang="en-GB"/>
              <a:t> Energy Consumption KPI and overall system reliability. </a:t>
            </a:r>
            <a:endParaRPr b="1"/>
          </a:p>
          <a:p>
            <a:pPr indent="0" lvl="0" marL="0" rtl="0" algn="l">
              <a:spcBef>
                <a:spcPts val="1200"/>
              </a:spcBef>
              <a:spcAft>
                <a:spcPts val="1200"/>
              </a:spcAft>
              <a:buNone/>
            </a:pPr>
            <a:r>
              <a:rPr lang="en-GB"/>
              <a:t>By confirming that our ultra-low-power TPS7A02 LDO regulator and decoupling capacitor network handle peak currents smoothly, we ensure the MCU will not experience brownout resets.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326600" y="846525"/>
            <a:ext cx="5169300" cy="4031100"/>
          </a:xfrm>
          <a:prstGeom prst="rect">
            <a:avLst/>
          </a:prstGeom>
        </p:spPr>
        <p:txBody>
          <a:bodyPr anchorCtr="0" anchor="ctr" bIns="91425" lIns="91425" spcFirstLastPara="1" rIns="91425" wrap="square" tIns="91425">
            <a:normAutofit fontScale="90000"/>
          </a:bodyPr>
          <a:lstStyle/>
          <a:p>
            <a:pPr indent="0" lvl="0" marL="0" rtl="0" algn="just">
              <a:lnSpc>
                <a:spcPct val="115000"/>
              </a:lnSpc>
              <a:spcBef>
                <a:spcPts val="0"/>
              </a:spcBef>
              <a:spcAft>
                <a:spcPts val="0"/>
              </a:spcAft>
              <a:buNone/>
            </a:pPr>
            <a:r>
              <a:rPr lang="en-GB" sz="1522">
                <a:latin typeface="Lato"/>
                <a:ea typeface="Lato"/>
                <a:cs typeface="Lato"/>
                <a:sym typeface="Lato"/>
              </a:rPr>
              <a:t>The execution steps involve importing the board layout stackup with defined 3.3V and GND planes into SIwave, assigning the regulator VRM output, and modeling the 100 nF and 10 µF decoupling capacitors with their equivalent series resistance. </a:t>
            </a:r>
            <a:endParaRPr sz="1522">
              <a:latin typeface="Lato"/>
              <a:ea typeface="Lato"/>
              <a:cs typeface="Lato"/>
              <a:sym typeface="Lato"/>
            </a:endParaRPr>
          </a:p>
          <a:p>
            <a:pPr indent="0" lvl="0" marL="0" rtl="0" algn="just">
              <a:lnSpc>
                <a:spcPct val="115000"/>
              </a:lnSpc>
              <a:spcBef>
                <a:spcPts val="1200"/>
              </a:spcBef>
              <a:spcAft>
                <a:spcPts val="1200"/>
              </a:spcAft>
              <a:buNone/>
            </a:pPr>
            <a:r>
              <a:rPr lang="en-GB" sz="1522">
                <a:latin typeface="Lato"/>
                <a:ea typeface="Lato"/>
                <a:cs typeface="Lato"/>
                <a:sym typeface="Lato"/>
              </a:rPr>
              <a:t>We then apply a transient current load at the STM32 power pin that jumps from a 0.3 µA sleep state to a 120 mA transmit burst for 60 ms, running a time-domain co-simulation over 100 ms. We expect to extract a transient voltage waveform showing that the 3.3V rail droops no lower than ~3.22V during transmission, as well as a PDN impedance curve confirming resistance stays below 1.375 Ω across frequencies up to 100 MHz. The significance of this simulation is that it mathematically guarantees node runtime stability under battery power, </a:t>
            </a:r>
            <a:r>
              <a:rPr i="1" lang="en-GB" sz="1522">
                <a:latin typeface="Lato"/>
                <a:ea typeface="Lato"/>
                <a:cs typeface="Lato"/>
                <a:sym typeface="Lato"/>
              </a:rPr>
              <a:t>proving optimal energy efficiency.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622"/>
              <a:t>Simulation 3: Battery &amp; Enclosure Thermal Isolation </a:t>
            </a:r>
            <a:endParaRPr sz="2622"/>
          </a:p>
        </p:txBody>
      </p:sp>
      <p:sp>
        <p:nvSpPr>
          <p:cNvPr id="163" name="Google Shape;163;p18"/>
          <p:cNvSpPr txBox="1"/>
          <p:nvPr>
            <p:ph idx="1" type="body"/>
          </p:nvPr>
        </p:nvSpPr>
        <p:spPr>
          <a:xfrm>
            <a:off x="764875" y="1528875"/>
            <a:ext cx="7855200" cy="2911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1500"/>
              <a:t>This simulation uses</a:t>
            </a:r>
            <a:r>
              <a:rPr b="1" lang="en-GB" sz="1500"/>
              <a:t> Ansys Icepak</a:t>
            </a:r>
            <a:r>
              <a:rPr lang="en-GB" sz="1500"/>
              <a:t> to evaluate conjugate heat transfer, covering both thermal conduction and natural air convection. </a:t>
            </a:r>
            <a:endParaRPr sz="1500"/>
          </a:p>
          <a:p>
            <a:pPr indent="0" lvl="0" marL="0" rtl="0" algn="just">
              <a:spcBef>
                <a:spcPts val="1200"/>
              </a:spcBef>
              <a:spcAft>
                <a:spcPts val="0"/>
              </a:spcAft>
              <a:buNone/>
            </a:pPr>
            <a:r>
              <a:rPr lang="en-GB" sz="1500"/>
              <a:t>We are performing this analysis to ensure that</a:t>
            </a:r>
            <a:r>
              <a:rPr lang="en-GB" sz="1500"/>
              <a:t> </a:t>
            </a:r>
            <a:r>
              <a:rPr i="1" lang="en-GB" sz="1500"/>
              <a:t>internal heat generated by the 1000mAh</a:t>
            </a:r>
            <a:r>
              <a:rPr i="1" lang="en-GB" sz="1500"/>
              <a:t> LiPo battery</a:t>
            </a:r>
            <a:r>
              <a:rPr lang="en-GB" sz="1500"/>
              <a:t> during solar charging or by the MCU during active computing does not conduct into our ambient temperature sensor. </a:t>
            </a:r>
            <a:endParaRPr sz="1500"/>
          </a:p>
          <a:p>
            <a:pPr indent="0" lvl="0" marL="0" rtl="0" algn="just">
              <a:spcBef>
                <a:spcPts val="1200"/>
              </a:spcBef>
              <a:spcAft>
                <a:spcPts val="1200"/>
              </a:spcAft>
              <a:buNone/>
            </a:pPr>
            <a:r>
              <a:rPr lang="en-GB" sz="1500"/>
              <a:t>This supports the</a:t>
            </a:r>
            <a:r>
              <a:rPr i="1" lang="en-GB" sz="1500"/>
              <a:t> Temperature Accuracy KPI </a:t>
            </a:r>
            <a:r>
              <a:rPr lang="en-GB" sz="1500"/>
              <a:t>of IEEE HART by confirming that device self-heating will not introduce artificial offsets into our ambient sensor readings.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3897375" y="458200"/>
            <a:ext cx="5057700" cy="60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Garamond"/>
                <a:ea typeface="Garamond"/>
                <a:cs typeface="Garamond"/>
                <a:sym typeface="Garamond"/>
              </a:rPr>
              <a:t>STEPS OF EXECUTION</a:t>
            </a:r>
            <a:endParaRPr>
              <a:latin typeface="Garamond"/>
              <a:ea typeface="Garamond"/>
              <a:cs typeface="Garamond"/>
              <a:sym typeface="Garamond"/>
            </a:endParaRPr>
          </a:p>
        </p:txBody>
      </p:sp>
      <p:sp>
        <p:nvSpPr>
          <p:cNvPr id="169" name="Google Shape;169;p19"/>
          <p:cNvSpPr txBox="1"/>
          <p:nvPr>
            <p:ph idx="1" type="body"/>
          </p:nvPr>
        </p:nvSpPr>
        <p:spPr>
          <a:xfrm>
            <a:off x="949450" y="1443900"/>
            <a:ext cx="7627500" cy="36996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1500"/>
              <a:t>T</a:t>
            </a:r>
            <a:r>
              <a:rPr lang="en-GB" sz="1500"/>
              <a:t>o set up the simulation, we will import the 3D CAD assembly of our 60 × 50 mm enclosure (.STEP) and PCB into Icepak, assigning a heat dissipation load of 0.15 W to the LiPo battery and 0.05 W to the MCU. We will then set the surrounding air domain to 35°C to match internal hive conditions and run the fluid-thermal solver to compute copper plane conduction and natural airflow. </a:t>
            </a:r>
            <a:endParaRPr sz="1500"/>
          </a:p>
          <a:p>
            <a:pPr indent="0" lvl="0" marL="0" rtl="0" algn="just">
              <a:spcBef>
                <a:spcPts val="1200"/>
              </a:spcBef>
              <a:spcAft>
                <a:spcPts val="0"/>
              </a:spcAft>
              <a:buClr>
                <a:schemeClr val="dk1"/>
              </a:buClr>
              <a:buSzPts val="1100"/>
              <a:buFont typeface="Arial"/>
              <a:buNone/>
            </a:pPr>
            <a:r>
              <a:rPr lang="en-GB" sz="1500"/>
              <a:t>The expected outcomes are a </a:t>
            </a:r>
            <a:r>
              <a:rPr b="1" lang="en-GB" sz="1500"/>
              <a:t>3D thermal heat map showing localized heat at the battery (~38°C) while the surrounding board remains cool, along with a thermal cross-section cut plane verifying that the ambient DS18B20 sensor footprint maintains an elevation of &lt;0.1°C relative to internal hive air. </a:t>
            </a:r>
            <a:r>
              <a:rPr lang="en-GB" sz="1500"/>
              <a:t>The significance of this result is that it proves our board layout thermally isolates critical sensing components, preserving the ±0.5°C temperature accuracy required to evaluate bee colony health accurately. </a:t>
            </a:r>
            <a:endParaRPr sz="1500"/>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